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53" d="100"/>
          <a:sy n="53" d="100"/>
        </p:scale>
        <p:origin x="8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CD5ED-D27A-4084-B42D-FE4DF03E4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A3C14-68AB-4402-A3C2-670C6FE38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58C78-FB76-4F5D-BF1F-018A257C8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B69F-4080-46D8-A46A-332AAE9DC79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80E66-9613-4B93-A0D1-95E32F01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B4ABA-95B6-4ED3-B691-3FE9B812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95B7-10D2-4470-BD5F-FDFC4E923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84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98997-7054-4A63-9FDD-CB66A968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BF31C-86AB-427B-B0BD-C6B5D96DC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E5A7D-3E86-4014-84B1-F3E35270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B69F-4080-46D8-A46A-332AAE9DC79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E381C-3C43-4A75-9697-D94A2B34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15AB4-7D4D-40D0-8EA5-C3B2E1BD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95B7-10D2-4470-BD5F-FDFC4E923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20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6EC51-8F26-4020-AE1C-8C8D3C270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6DB30-3B7D-414B-8F87-C2D86A862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03990-5846-4858-A94D-3E17F906C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B69F-4080-46D8-A46A-332AAE9DC79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CF5B4-AFD1-463F-9087-54709E78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73258-F64F-4976-9F85-99BFE1E0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95B7-10D2-4470-BD5F-FDFC4E923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21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B35B2-EC0F-484F-AF06-DBE1659CA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A992E-237B-459A-8100-8A328FAE46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D6024-93E3-46A1-8F43-FCF94E165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989E8-1EEC-4EA5-8E0C-FAEB346BC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B69F-4080-46D8-A46A-332AAE9DC79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427-CD8D-4A5D-8774-EC4AB0FB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07ACD-83B3-48CE-A4BE-C45879D7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95B7-10D2-4470-BD5F-FDFC4E923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89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E7004-CF4E-407B-B2CA-A2C3C917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89300-B3B3-42C4-94B6-04530AF1D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2A305-F2AF-4878-BD4A-DC57DED60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2F1E8-13FF-4DC9-8A3B-7AC4E089BB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545CC1-14B5-4B93-99AA-C706D1BA1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FA4CC-8B4A-450B-A403-4D33154E5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B69F-4080-46D8-A46A-332AAE9DC79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2F4073-7300-4D14-B649-1151DEC41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5998B8-C436-4B29-A817-E231C0BA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95B7-10D2-4470-BD5F-FDFC4E923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40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3BD8-9208-475F-B058-A569C87C3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872CD8-0B4D-4296-91A0-85D5BA8A5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B69F-4080-46D8-A46A-332AAE9DC79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9B43B-3D03-4CBA-BF4C-9EA71634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74B7E-2438-4CC1-A151-DF41E1D4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95B7-10D2-4470-BD5F-FDFC4E923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76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725D01-D00C-4E3A-B869-849D407B1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B69F-4080-46D8-A46A-332AAE9DC79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87EB8-2D17-4960-80C6-7CD1E6920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695AC-EE5A-49F8-AA40-5E3B0A75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95B7-10D2-4470-BD5F-FDFC4E923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1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7F0B2-A001-47EC-8703-2535D0E5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56D01-4CC8-4C0C-9007-065DFB7EC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4B28E-EAB5-439C-BCAD-24838F913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A097D-CB0A-4ADD-A247-C7DA18551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B69F-4080-46D8-A46A-332AAE9DC79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65703-4FD1-4A23-80FC-51F0274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704ED-4511-4D3E-87AB-B55296DE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95B7-10D2-4470-BD5F-FDFC4E923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66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CF1AD-7C94-4A9E-9CCB-38E994FE4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20480-C2FB-4ED5-BC9D-DC81EB929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4E954-0C78-41E6-BAE0-DB7B1DEE8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DB9DE-897D-4C57-8B17-4D725824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B69F-4080-46D8-A46A-332AAE9DC79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400B9-3F14-4743-8A35-8B478E7E5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70ADE-882D-49DB-9073-B83DB6226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95B7-10D2-4470-BD5F-FDFC4E923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2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654E7-0737-4083-A156-D6AA481A7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09628E-28E0-45A9-A3FF-312467126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96B3B-7DF0-493D-B57B-12419E7F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B69F-4080-46D8-A46A-332AAE9DC79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88739-0C88-4506-9469-BC579A5D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5A275-E304-427F-AE60-51C3199D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95B7-10D2-4470-BD5F-FDFC4E923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8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2A134D-88A0-41FF-A5EE-906FF668B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CE07E-8DA7-4824-AA30-9F6BD5C29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C3124-8EA6-46E0-966A-E9BC8584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8B69F-4080-46D8-A46A-332AAE9DC79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AE7F3-5215-45AA-95EE-66BF357A3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A8A09-E1D0-44F5-8058-0353EAFD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95B7-10D2-4470-BD5F-FDFC4E923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6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B62AF8-FD80-4140-80AB-F054A49A1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1B78A-2900-4C95-88D3-72411B2B1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E6570-C605-4A4D-A842-0191AD84B3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8B69F-4080-46D8-A46A-332AAE9DC79D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71381-57AD-4A17-9BFA-F934D51D0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50651-D5F8-42E4-9811-B90856E62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395B7-10D2-4470-BD5F-FDFC4E923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2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5BC11-F0BC-4821-B800-27FC5D5DA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971" y="462416"/>
            <a:ext cx="10515600" cy="56378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Trend </a:t>
            </a:r>
            <a:r>
              <a:rPr lang="en-US" sz="4000" b="1" dirty="0">
                <a:latin typeface="+mn-lt"/>
              </a:rPr>
              <a:t>Analysis</a:t>
            </a:r>
            <a:endParaRPr lang="en-US" sz="4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5141F-C71F-4BC7-97A5-4A2F44C7B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971" y="1480457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What is Happening?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Significant upward trend in sales over the past quarter, with a peak in [specific month or period].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Growth in [specific product category].</a:t>
            </a:r>
          </a:p>
          <a:p>
            <a:pPr marL="0" indent="0">
              <a:buNone/>
            </a:pPr>
            <a:r>
              <a:rPr lang="en-US" b="1" dirty="0"/>
              <a:t>Why is it Happening?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Driven by seasonal demand, marketing campaigns, and positive market conditions.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Improved product availability and marketing strategy.</a:t>
            </a:r>
          </a:p>
          <a:p>
            <a:pPr marL="0" indent="0">
              <a:buNone/>
            </a:pPr>
            <a:r>
              <a:rPr lang="en-US" b="1" dirty="0"/>
              <a:t>What Action Should the Business Take?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Extend marketing efforts during peak months.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Expand successful products into new regions or markets.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Strengthen partnerships with suppliers.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838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63CF23-3B69-4844-AB0F-314AB78904F6}"/>
              </a:ext>
            </a:extLst>
          </p:cNvPr>
          <p:cNvSpPr txBox="1"/>
          <p:nvPr/>
        </p:nvSpPr>
        <p:spPr>
          <a:xfrm>
            <a:off x="754743" y="445982"/>
            <a:ext cx="9144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Profitability Insights</a:t>
            </a:r>
          </a:p>
          <a:p>
            <a:endParaRPr lang="en-US" sz="3200" b="1" dirty="0"/>
          </a:p>
          <a:p>
            <a:r>
              <a:rPr lang="en-US" sz="2400" b="1" dirty="0"/>
              <a:t>What is Happening?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Profit margins have shrunk by [X%], despite an increase in sales volume.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Decline due to rising operational costs.</a:t>
            </a:r>
          </a:p>
          <a:p>
            <a:r>
              <a:rPr lang="en-US" sz="2400" b="1" dirty="0"/>
              <a:t>Why is it Happening?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Higher raw material costs, labor expenses, and supply chain disruptions.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Pricing strategies have not been adjusted.</a:t>
            </a:r>
          </a:p>
          <a:p>
            <a:r>
              <a:rPr lang="en-US" sz="2400" b="1" dirty="0"/>
              <a:t>What Action Should the Business Take?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Reevaluate pricing strategy and implement price adjustments.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Investigate alternative suppliers.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Identify cost efficiencies in operations.</a:t>
            </a:r>
          </a:p>
        </p:txBody>
      </p:sp>
    </p:spTree>
    <p:extLst>
      <p:ext uri="{BB962C8B-B14F-4D97-AF65-F5344CB8AC3E}">
        <p14:creationId xmlns:p14="http://schemas.microsoft.com/office/powerpoint/2010/main" val="929646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A026A4-3909-4028-BC01-12D7C79A281B}"/>
              </a:ext>
            </a:extLst>
          </p:cNvPr>
          <p:cNvSpPr txBox="1"/>
          <p:nvPr/>
        </p:nvSpPr>
        <p:spPr>
          <a:xfrm>
            <a:off x="1233715" y="364314"/>
            <a:ext cx="100148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Customer/Segment Behavior</a:t>
            </a:r>
          </a:p>
          <a:p>
            <a:endParaRPr lang="en-US" sz="2400" b="1" dirty="0"/>
          </a:p>
          <a:p>
            <a:r>
              <a:rPr lang="en-US" sz="2400" b="1" dirty="0"/>
              <a:t>What is Happening?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Shift in customer behavior with growing preference for [specific product/service], especially among younger consumers.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Online/mobile sales have outpaced in-store purchases.</a:t>
            </a:r>
          </a:p>
          <a:p>
            <a:r>
              <a:rPr lang="en-US" sz="2400" b="1" dirty="0"/>
              <a:t>Why is it Happening?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Driven by rise in online shopping and preference for convenience.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Younger consumers value sustainability, technology innovation, etc.</a:t>
            </a:r>
          </a:p>
          <a:p>
            <a:r>
              <a:rPr lang="en-US" sz="2400" b="1" dirty="0"/>
              <a:t>What Action Should the Business Take?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Strengthen digital platforms and improve user experience.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Design marketing campaigns for younger consumers.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Offer personalized recommendations and loyalty programs.</a:t>
            </a:r>
          </a:p>
        </p:txBody>
      </p:sp>
    </p:spTree>
    <p:extLst>
      <p:ext uri="{BB962C8B-B14F-4D97-AF65-F5344CB8AC3E}">
        <p14:creationId xmlns:p14="http://schemas.microsoft.com/office/powerpoint/2010/main" val="3456068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9A3B02-7C29-4221-95FB-34E845717B4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3315" y="919104"/>
            <a:ext cx="10377714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Category Performance – Office Supplies Sell More but Profit Less</a:t>
            </a:r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What is happening?</a:t>
            </a:r>
            <a:br>
              <a:rPr lang="en-US" sz="2400" dirty="0"/>
            </a:br>
            <a:r>
              <a:rPr lang="en-US" sz="2400" dirty="0"/>
              <a:t>• Office Supplies show high order volume but lower profitability.</a:t>
            </a:r>
            <a:br>
              <a:rPr lang="en-US" sz="2400" dirty="0"/>
            </a:br>
            <a:r>
              <a:rPr lang="en-US" sz="2400" dirty="0"/>
              <a:t>• Technology yields fewer orders but maximum profit per unit.</a:t>
            </a:r>
          </a:p>
          <a:p>
            <a:r>
              <a:rPr lang="en-US" sz="2400" b="1" dirty="0"/>
              <a:t>Why is it happening?</a:t>
            </a:r>
            <a:br>
              <a:rPr lang="en-US" sz="2400" dirty="0"/>
            </a:br>
            <a:r>
              <a:rPr lang="en-US" sz="2400" dirty="0"/>
              <a:t>• Office supplies have low-margin products with heavy discount usage.</a:t>
            </a:r>
            <a:br>
              <a:rPr lang="en-US" sz="2400" dirty="0"/>
            </a:br>
            <a:r>
              <a:rPr lang="en-US" sz="2400" dirty="0"/>
              <a:t>• Technology items have premium pricing and consistent demand.</a:t>
            </a:r>
          </a:p>
          <a:p>
            <a:r>
              <a:rPr lang="en-US" sz="2400" b="1" dirty="0"/>
              <a:t>Action for business:</a:t>
            </a:r>
            <a:br>
              <a:rPr lang="en-US" sz="2400" dirty="0"/>
            </a:br>
            <a:r>
              <a:rPr lang="en-US" sz="2400" dirty="0"/>
              <a:t>• Drive cross-selling: Bundle Office Supplies with high-margin Tech products.</a:t>
            </a:r>
            <a:br>
              <a:rPr lang="en-US" sz="2400" dirty="0"/>
            </a:br>
            <a:r>
              <a:rPr lang="en-US" sz="2400" dirty="0"/>
              <a:t>• Reduce excessive discounts on low-margin supply items.</a:t>
            </a:r>
          </a:p>
        </p:txBody>
      </p:sp>
    </p:spTree>
    <p:extLst>
      <p:ext uri="{BB962C8B-B14F-4D97-AF65-F5344CB8AC3E}">
        <p14:creationId xmlns:p14="http://schemas.microsoft.com/office/powerpoint/2010/main" val="422570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428210-17C8-4DB4-8797-7E4E1ED0FFD8}"/>
              </a:ext>
            </a:extLst>
          </p:cNvPr>
          <p:cNvSpPr txBox="1"/>
          <p:nvPr/>
        </p:nvSpPr>
        <p:spPr>
          <a:xfrm>
            <a:off x="624113" y="181957"/>
            <a:ext cx="10319657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/>
          </a:p>
          <a:p>
            <a:r>
              <a:rPr lang="en-US" sz="2800" b="1" dirty="0"/>
              <a:t>Business Risks &amp; Opportunities</a:t>
            </a:r>
          </a:p>
          <a:p>
            <a:endParaRPr lang="en-US" sz="2400" b="1" dirty="0"/>
          </a:p>
          <a:p>
            <a:r>
              <a:rPr lang="en-US" sz="2400" b="1" dirty="0"/>
              <a:t>What is Happening?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Business facing risks like [economic downturn, regulatory changes, increased competition].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Opportunities exist in [emerging markets, technological innovation, etc.].</a:t>
            </a:r>
          </a:p>
          <a:p>
            <a:r>
              <a:rPr lang="en-US" sz="2400" b="1" dirty="0"/>
              <a:t>Why is it Happening?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Risks driven by [economic pressures, regulatory shifts, competition].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Opportunities from trends like [sustainability, digital transformation, expansion into new regions].</a:t>
            </a:r>
          </a:p>
          <a:p>
            <a:r>
              <a:rPr lang="en-US" sz="2400" b="1" dirty="0"/>
              <a:t>What Action Should the Business Take?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Mitigate risks by diversifying the supply chain and staying ahead of regulations.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Invest in emerging market opportunities.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Build competitive intelligence to anticipate shifts.</a:t>
            </a:r>
          </a:p>
        </p:txBody>
      </p:sp>
    </p:spTree>
    <p:extLst>
      <p:ext uri="{BB962C8B-B14F-4D97-AF65-F5344CB8AC3E}">
        <p14:creationId xmlns:p14="http://schemas.microsoft.com/office/powerpoint/2010/main" val="1865337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447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Trend Analysis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 Analysis</dc:title>
  <dc:creator>ADMIN</dc:creator>
  <cp:lastModifiedBy>ADMIN</cp:lastModifiedBy>
  <cp:revision>1</cp:revision>
  <dcterms:created xsi:type="dcterms:W3CDTF">2025-12-12T05:26:18Z</dcterms:created>
  <dcterms:modified xsi:type="dcterms:W3CDTF">2025-12-12T05:36:24Z</dcterms:modified>
</cp:coreProperties>
</file>